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9" r:id="rId2"/>
    <p:sldId id="266" r:id="rId3"/>
    <p:sldId id="269" r:id="rId4"/>
  </p:sldIdLst>
  <p:sldSz cx="10799763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9B00"/>
    <a:srgbClr val="FFFFFF"/>
    <a:srgbClr val="E9D8A6"/>
    <a:srgbClr val="CA6702"/>
    <a:srgbClr val="0A9396"/>
    <a:srgbClr val="005F73"/>
    <a:srgbClr val="94D2BD"/>
    <a:srgbClr val="000000"/>
    <a:srgbClr val="AE20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18" autoAdjust="0"/>
    <p:restoredTop sz="94660"/>
  </p:normalViewPr>
  <p:slideViewPr>
    <p:cSldViewPr snapToGrid="0">
      <p:cViewPr varScale="1">
        <p:scale>
          <a:sx n="43" d="100"/>
          <a:sy n="43" d="100"/>
        </p:scale>
        <p:origin x="17" y="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1F9B8A-F4D5-423F-AE04-8E58BCB8524B}" type="datetimeFigureOut">
              <a:rPr lang="zh-TW" altLang="en-US" smtClean="0"/>
              <a:t>2025/12/12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F3FD20-18E0-446F-9D85-F33036144D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175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F3FD20-18E0-446F-9D85-F33036144D6A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02253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F3FD20-18E0-446F-9D85-F33036144D6A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03602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-</a:t>
            </a:r>
            <a:br>
              <a:rPr lang="en-US" altLang="zh-TW" dirty="0"/>
            </a:br>
            <a:r>
              <a:rPr lang="zh-TW" altLang="en-US" dirty="0"/>
              <a:t>大家好，我是某某醫師，本業是外科住院醫師，將於明年開始進行心臟外科的訓練，雖然刀房訓練充實，但是還是想多充實自己臨床知識！這個系列，會放上我一些整理過的醫學知識內容。</a:t>
            </a:r>
            <a:br>
              <a:rPr lang="en-US" altLang="zh-TW" dirty="0"/>
            </a:br>
            <a:br>
              <a:rPr lang="en-US" altLang="zh-TW" dirty="0"/>
            </a:br>
            <a:r>
              <a:rPr lang="zh-TW" altLang="en-US" dirty="0"/>
              <a:t>小時候，都曾幻想自己</a:t>
            </a:r>
            <a:r>
              <a:rPr lang="en-US" altLang="zh-TW" dirty="0"/>
              <a:t>TEAM</a:t>
            </a:r>
            <a:r>
              <a:rPr lang="zh-TW" altLang="en-US" dirty="0"/>
              <a:t>上的學長又踢 </a:t>
            </a:r>
            <a:r>
              <a:rPr lang="en-US" altLang="zh-TW" dirty="0"/>
              <a:t>(teaching)</a:t>
            </a:r>
            <a:r>
              <a:rPr lang="zh-TW" altLang="en-US" dirty="0"/>
              <a:t> 又帥，現在慢慢長大了，雖然不是很帥，但也希望能夠給現在正在訓練中的學弟妹一些幫忙。</a:t>
            </a:r>
            <a:br>
              <a:rPr lang="en-US" altLang="zh-TW" dirty="0"/>
            </a:br>
            <a:br>
              <a:rPr lang="en-US" altLang="zh-TW" dirty="0"/>
            </a:br>
            <a:r>
              <a:rPr lang="zh-TW" altLang="en-US" dirty="0"/>
              <a:t>當然，如果我的內容有誤，也請各位先進不吝更正，我們一起學習！</a:t>
            </a:r>
            <a:endParaRPr lang="en-US" altLang="zh-TW" dirty="0"/>
          </a:p>
          <a:p>
            <a:br>
              <a:rPr lang="en-US" altLang="zh-TW" dirty="0"/>
            </a:br>
            <a:r>
              <a:rPr lang="zh-TW" altLang="en-US" dirty="0"/>
              <a:t>某某醫師敬上 </a:t>
            </a:r>
            <a:r>
              <a:rPr lang="en-US" altLang="zh-TW" dirty="0"/>
              <a:t>2022.12.29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F3FD20-18E0-446F-9D85-F33036144D6A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7230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982" y="1767462"/>
            <a:ext cx="9179799" cy="3759917"/>
          </a:xfrm>
        </p:spPr>
        <p:txBody>
          <a:bodyPr anchor="b"/>
          <a:lstStyle>
            <a:lvl1pPr algn="ctr">
              <a:defRPr sz="708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5672376"/>
            <a:ext cx="8099822" cy="2607442"/>
          </a:xfrm>
        </p:spPr>
        <p:txBody>
          <a:bodyPr/>
          <a:lstStyle>
            <a:lvl1pPr marL="0" indent="0" algn="ctr">
              <a:buNone/>
              <a:defRPr sz="2835"/>
            </a:lvl1pPr>
            <a:lvl2pPr marL="539999" indent="0" algn="ctr">
              <a:buNone/>
              <a:defRPr sz="2362"/>
            </a:lvl2pPr>
            <a:lvl3pPr marL="1079998" indent="0" algn="ctr">
              <a:buNone/>
              <a:defRPr sz="2126"/>
            </a:lvl3pPr>
            <a:lvl4pPr marL="1619997" indent="0" algn="ctr">
              <a:buNone/>
              <a:defRPr sz="1890"/>
            </a:lvl4pPr>
            <a:lvl5pPr marL="2159996" indent="0" algn="ctr">
              <a:buNone/>
              <a:defRPr sz="1890"/>
            </a:lvl5pPr>
            <a:lvl6pPr marL="2699995" indent="0" algn="ctr">
              <a:buNone/>
              <a:defRPr sz="1890"/>
            </a:lvl6pPr>
            <a:lvl7pPr marL="3239994" indent="0" algn="ctr">
              <a:buNone/>
              <a:defRPr sz="1890"/>
            </a:lvl7pPr>
            <a:lvl8pPr marL="3779992" indent="0" algn="ctr">
              <a:buNone/>
              <a:defRPr sz="1890"/>
            </a:lvl8pPr>
            <a:lvl9pPr marL="4319991" indent="0" algn="ctr">
              <a:buNone/>
              <a:defRPr sz="189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66E12-3FEC-41E8-9ED9-ACA26449D574}" type="datetimeFigureOut">
              <a:rPr lang="zh-TW" altLang="en-US" smtClean="0"/>
              <a:t>2025/12/12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D8421-3191-4B3C-B494-49371EC5D9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3964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66E12-3FEC-41E8-9ED9-ACA26449D574}" type="datetimeFigureOut">
              <a:rPr lang="zh-TW" altLang="en-US" smtClean="0"/>
              <a:t>2025/12/12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D8421-3191-4B3C-B494-49371EC5D9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1018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2692444"/>
            <a:ext cx="9314796" cy="4492401"/>
          </a:xfrm>
        </p:spPr>
        <p:txBody>
          <a:bodyPr anchor="b"/>
          <a:lstStyle>
            <a:lvl1pPr>
              <a:defRPr sz="708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7227345"/>
            <a:ext cx="9314796" cy="2362447"/>
          </a:xfrm>
        </p:spPr>
        <p:txBody>
          <a:bodyPr/>
          <a:lstStyle>
            <a:lvl1pPr marL="0" indent="0">
              <a:buNone/>
              <a:defRPr sz="2835">
                <a:solidFill>
                  <a:schemeClr val="tx1"/>
                </a:solidFill>
              </a:defRPr>
            </a:lvl1pPr>
            <a:lvl2pPr marL="539999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2pPr>
            <a:lvl3pPr marL="1079998" indent="0">
              <a:buNone/>
              <a:defRPr sz="2126">
                <a:solidFill>
                  <a:schemeClr val="tx1">
                    <a:tint val="75000"/>
                  </a:schemeClr>
                </a:solidFill>
              </a:defRPr>
            </a:lvl3pPr>
            <a:lvl4pPr marL="1619997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4pPr>
            <a:lvl5pPr marL="2159996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5pPr>
            <a:lvl6pPr marL="2699995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6pPr>
            <a:lvl7pPr marL="3239994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7pPr>
            <a:lvl8pPr marL="3779992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8pPr>
            <a:lvl9pPr marL="4319991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66E12-3FEC-41E8-9ED9-ACA26449D574}" type="datetimeFigureOut">
              <a:rPr lang="zh-TW" altLang="en-US" smtClean="0"/>
              <a:t>2025/12/12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D8421-3191-4B3C-B494-49371EC5D9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7853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2874937"/>
            <a:ext cx="4589899" cy="68523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2874937"/>
            <a:ext cx="4589899" cy="68523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66E12-3FEC-41E8-9ED9-ACA26449D574}" type="datetimeFigureOut">
              <a:rPr lang="zh-TW" altLang="en-US" smtClean="0"/>
              <a:t>2025/12/12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D8421-3191-4B3C-B494-49371EC5D9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243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574990"/>
            <a:ext cx="9314796" cy="208745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2" y="2647443"/>
            <a:ext cx="4568805" cy="1297471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2" y="3944914"/>
            <a:ext cx="4568805" cy="580237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1" y="2647443"/>
            <a:ext cx="4591306" cy="1297471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1" y="3944914"/>
            <a:ext cx="4591306" cy="580237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66E12-3FEC-41E8-9ED9-ACA26449D574}" type="datetimeFigureOut">
              <a:rPr lang="zh-TW" altLang="en-US" smtClean="0"/>
              <a:t>2025/12/12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D8421-3191-4B3C-B494-49371EC5D9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163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66E12-3FEC-41E8-9ED9-ACA26449D574}" type="datetimeFigureOut">
              <a:rPr lang="zh-TW" altLang="en-US" smtClean="0"/>
              <a:t>2025/12/12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D8421-3191-4B3C-B494-49371EC5D9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9797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66E12-3FEC-41E8-9ED9-ACA26449D574}" type="datetimeFigureOut">
              <a:rPr lang="zh-TW" altLang="en-US" smtClean="0"/>
              <a:t>2025/12/12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D8421-3191-4B3C-B494-49371EC5D9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7073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719984"/>
            <a:ext cx="3483205" cy="2519945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1554968"/>
            <a:ext cx="5467380" cy="7674832"/>
          </a:xfrm>
        </p:spPr>
        <p:txBody>
          <a:bodyPr/>
          <a:lstStyle>
            <a:lvl1pPr>
              <a:defRPr sz="3780"/>
            </a:lvl1pPr>
            <a:lvl2pPr>
              <a:defRPr sz="3307"/>
            </a:lvl2pPr>
            <a:lvl3pPr>
              <a:defRPr sz="2835"/>
            </a:lvl3pPr>
            <a:lvl4pPr>
              <a:defRPr sz="2362"/>
            </a:lvl4pPr>
            <a:lvl5pPr>
              <a:defRPr sz="2362"/>
            </a:lvl5pPr>
            <a:lvl6pPr>
              <a:defRPr sz="2362"/>
            </a:lvl6pPr>
            <a:lvl7pPr>
              <a:defRPr sz="2362"/>
            </a:lvl7pPr>
            <a:lvl8pPr>
              <a:defRPr sz="2362"/>
            </a:lvl8pPr>
            <a:lvl9pPr>
              <a:defRPr sz="2362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3239929"/>
            <a:ext cx="3483205" cy="6002369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66E12-3FEC-41E8-9ED9-ACA26449D574}" type="datetimeFigureOut">
              <a:rPr lang="zh-TW" altLang="en-US" smtClean="0"/>
              <a:t>2025/12/12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D8421-3191-4B3C-B494-49371EC5D9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2434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719984"/>
            <a:ext cx="3483205" cy="2519945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1554968"/>
            <a:ext cx="5467380" cy="7674832"/>
          </a:xfrm>
        </p:spPr>
        <p:txBody>
          <a:bodyPr anchor="t"/>
          <a:lstStyle>
            <a:lvl1pPr marL="0" indent="0">
              <a:buNone/>
              <a:defRPr sz="3780"/>
            </a:lvl1pPr>
            <a:lvl2pPr marL="539999" indent="0">
              <a:buNone/>
              <a:defRPr sz="3307"/>
            </a:lvl2pPr>
            <a:lvl3pPr marL="1079998" indent="0">
              <a:buNone/>
              <a:defRPr sz="2835"/>
            </a:lvl3pPr>
            <a:lvl4pPr marL="1619997" indent="0">
              <a:buNone/>
              <a:defRPr sz="2362"/>
            </a:lvl4pPr>
            <a:lvl5pPr marL="2159996" indent="0">
              <a:buNone/>
              <a:defRPr sz="2362"/>
            </a:lvl5pPr>
            <a:lvl6pPr marL="2699995" indent="0">
              <a:buNone/>
              <a:defRPr sz="2362"/>
            </a:lvl6pPr>
            <a:lvl7pPr marL="3239994" indent="0">
              <a:buNone/>
              <a:defRPr sz="2362"/>
            </a:lvl7pPr>
            <a:lvl8pPr marL="3779992" indent="0">
              <a:buNone/>
              <a:defRPr sz="2362"/>
            </a:lvl8pPr>
            <a:lvl9pPr marL="4319991" indent="0">
              <a:buNone/>
              <a:defRPr sz="2362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3239929"/>
            <a:ext cx="3483205" cy="6002369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66E12-3FEC-41E8-9ED9-ACA26449D574}" type="datetimeFigureOut">
              <a:rPr lang="zh-TW" altLang="en-US" smtClean="0"/>
              <a:t>2025/12/12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D8421-3191-4B3C-B494-49371EC5D9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7706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66E12-3FEC-41E8-9ED9-ACA26449D574}" type="datetimeFigureOut">
              <a:rPr lang="zh-TW" altLang="en-US" smtClean="0"/>
              <a:t>2025/12/12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D8421-3191-4B3C-B494-49371EC5D9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4508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1" y="574987"/>
            <a:ext cx="2328699" cy="91523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574987"/>
            <a:ext cx="6851100" cy="91523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66E12-3FEC-41E8-9ED9-ACA26449D574}" type="datetimeFigureOut">
              <a:rPr lang="zh-TW" altLang="en-US" smtClean="0"/>
              <a:t>2025/12/12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D8421-3191-4B3C-B494-49371EC5D9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3721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574990"/>
            <a:ext cx="9314796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2874937"/>
            <a:ext cx="9314796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10009783"/>
            <a:ext cx="2429947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D66E12-3FEC-41E8-9ED9-ACA26449D574}" type="datetimeFigureOut">
              <a:rPr lang="zh-TW" altLang="en-US" smtClean="0"/>
              <a:t>2025/12/12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10009783"/>
            <a:ext cx="364492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10009783"/>
            <a:ext cx="2429947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7D8421-3191-4B3C-B494-49371EC5D9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0766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79998" rtl="0" eaLnBrk="1" latinLnBrk="0" hangingPunct="1">
        <a:lnSpc>
          <a:spcPct val="90000"/>
        </a:lnSpc>
        <a:spcBef>
          <a:spcPct val="0"/>
        </a:spcBef>
        <a:buNone/>
        <a:defRPr sz="51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999" indent="-269999" algn="l" defTabSz="1079998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1pPr>
      <a:lvl2pPr marL="809998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349997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889996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429995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969994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509993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4049992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589991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1pPr>
      <a:lvl2pPr marL="539999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2pPr>
      <a:lvl3pPr marL="1079998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619997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159996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699995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239994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3779992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319991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74;p14">
            <a:extLst>
              <a:ext uri="{FF2B5EF4-FFF2-40B4-BE49-F238E27FC236}">
                <a16:creationId xmlns:a16="http://schemas.microsoft.com/office/drawing/2014/main" id="{95C1808C-DD47-5FA3-E26B-78095C14F4A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31225" y="32987872"/>
            <a:ext cx="10193575" cy="1961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74;p14">
            <a:extLst>
              <a:ext uri="{FF2B5EF4-FFF2-40B4-BE49-F238E27FC236}">
                <a16:creationId xmlns:a16="http://schemas.microsoft.com/office/drawing/2014/main" id="{1C8B34C0-1693-ECB2-BFC9-0D9BE782B75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83625" y="33140272"/>
            <a:ext cx="10193575" cy="1961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61;p14">
            <a:extLst>
              <a:ext uri="{FF2B5EF4-FFF2-40B4-BE49-F238E27FC236}">
                <a16:creationId xmlns:a16="http://schemas.microsoft.com/office/drawing/2014/main" id="{B26580AA-B169-3848-ACAE-9213EF5E348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18" y="-11003"/>
            <a:ext cx="10768926" cy="10799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CB251E90-C04F-E4A1-7E32-27B9A53362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72657" y="-22006"/>
            <a:ext cx="11215578" cy="11215578"/>
          </a:xfrm>
          <a:prstGeom prst="rect">
            <a:avLst/>
          </a:prstGeom>
        </p:spPr>
      </p:pic>
      <p:sp>
        <p:nvSpPr>
          <p:cNvPr id="18" name="Google Shape;63;p14">
            <a:extLst>
              <a:ext uri="{FF2B5EF4-FFF2-40B4-BE49-F238E27FC236}">
                <a16:creationId xmlns:a16="http://schemas.microsoft.com/office/drawing/2014/main" id="{B3B9E4DD-11FD-F17D-BFAE-42D0F2BD0504}"/>
              </a:ext>
            </a:extLst>
          </p:cNvPr>
          <p:cNvSpPr/>
          <p:nvPr/>
        </p:nvSpPr>
        <p:spPr>
          <a:xfrm>
            <a:off x="-72657" y="-22007"/>
            <a:ext cx="11215578" cy="11215577"/>
          </a:xfrm>
          <a:prstGeom prst="rect">
            <a:avLst/>
          </a:prstGeom>
          <a:solidFill>
            <a:srgbClr val="0A9396">
              <a:alpha val="55949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69;p14">
            <a:extLst>
              <a:ext uri="{FF2B5EF4-FFF2-40B4-BE49-F238E27FC236}">
                <a16:creationId xmlns:a16="http://schemas.microsoft.com/office/drawing/2014/main" id="{D4B6593D-3B53-677F-2B05-4CEAFB9671FF}"/>
              </a:ext>
            </a:extLst>
          </p:cNvPr>
          <p:cNvSpPr txBox="1"/>
          <p:nvPr/>
        </p:nvSpPr>
        <p:spPr>
          <a:xfrm>
            <a:off x="-762330" y="3978286"/>
            <a:ext cx="12515180" cy="3262401"/>
          </a:xfrm>
          <a:prstGeom prst="rect">
            <a:avLst/>
          </a:prstGeom>
          <a:noFill/>
          <a:ln w="152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00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  <a:t>心肌梗塞（</a:t>
            </a:r>
            <a:r>
              <a:rPr lang="en-US" altLang="zh-TW" sz="100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  <a:t>MI</a:t>
            </a:r>
            <a:r>
              <a:rPr lang="zh-TW" altLang="en-US" sz="100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  <a:t>）</a:t>
            </a:r>
            <a:br>
              <a:rPr lang="en-US" altLang="zh-TW" sz="100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</a:br>
            <a:r>
              <a:rPr lang="zh-TW" altLang="en-US" sz="100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  <a:t>分為幾種？</a:t>
            </a:r>
          </a:p>
        </p:txBody>
      </p:sp>
      <p:sp>
        <p:nvSpPr>
          <p:cNvPr id="7" name="Google Shape;70;p14">
            <a:extLst>
              <a:ext uri="{FF2B5EF4-FFF2-40B4-BE49-F238E27FC236}">
                <a16:creationId xmlns:a16="http://schemas.microsoft.com/office/drawing/2014/main" id="{4D635A1E-6E60-10D4-F0D6-40F568956517}"/>
              </a:ext>
            </a:extLst>
          </p:cNvPr>
          <p:cNvSpPr txBox="1"/>
          <p:nvPr/>
        </p:nvSpPr>
        <p:spPr>
          <a:xfrm>
            <a:off x="704995" y="1481228"/>
            <a:ext cx="4248005" cy="1261854"/>
          </a:xfrm>
          <a:prstGeom prst="rect">
            <a:avLst/>
          </a:prstGeom>
          <a:noFill/>
          <a:ln w="152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0" dirty="0">
                <a:solidFill>
                  <a:schemeClr val="lt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  <a:t>每日醫學</a:t>
            </a:r>
            <a:endParaRPr sz="7000" dirty="0">
              <a:solidFill>
                <a:schemeClr val="lt1"/>
              </a:solidFill>
              <a:latin typeface="CSong3HK-Medium" panose="00000600000000000000" pitchFamily="50" charset="-120"/>
              <a:ea typeface="CSong3HK-Medium" panose="00000600000000000000" pitchFamily="50" charset="-120"/>
              <a:cs typeface="ZCOOL XiaoWei"/>
              <a:sym typeface="ZCOOL XiaoWei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A13D28E-AFA8-938B-4D4A-D9A685A89BB7}"/>
              </a:ext>
            </a:extLst>
          </p:cNvPr>
          <p:cNvSpPr txBox="1"/>
          <p:nvPr/>
        </p:nvSpPr>
        <p:spPr>
          <a:xfrm>
            <a:off x="1245141" y="17286210"/>
            <a:ext cx="22490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dirty="0">
                <a:solidFill>
                  <a:schemeClr val="bg1"/>
                </a:solidFill>
                <a:latin typeface="MSmart HK Bold" panose="00000500000000000000" pitchFamily="2" charset="-120"/>
                <a:ea typeface="MSmart HK Bold" panose="00000500000000000000" pitchFamily="2" charset="-120"/>
                <a:cs typeface="ZCOOL XiaoWei"/>
                <a:sym typeface="ZCOOL XiaoWei"/>
              </a:rPr>
              <a:t>某某醫師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134327BF-A1B3-B468-7F55-FAD1ED11A539}"/>
              </a:ext>
            </a:extLst>
          </p:cNvPr>
          <p:cNvSpPr txBox="1"/>
          <p:nvPr/>
        </p:nvSpPr>
        <p:spPr>
          <a:xfrm>
            <a:off x="7360741" y="10080874"/>
            <a:ext cx="3408185" cy="707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4000" dirty="0"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  <a:t>IG:</a:t>
            </a:r>
            <a:r>
              <a:rPr lang="zh-TW" altLang="en-US" sz="4000" dirty="0"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  <a:t> 某某醫師</a:t>
            </a:r>
          </a:p>
        </p:txBody>
      </p:sp>
    </p:spTree>
    <p:extLst>
      <p:ext uri="{BB962C8B-B14F-4D97-AF65-F5344CB8AC3E}">
        <p14:creationId xmlns:p14="http://schemas.microsoft.com/office/powerpoint/2010/main" val="4135191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74;p14">
            <a:extLst>
              <a:ext uri="{FF2B5EF4-FFF2-40B4-BE49-F238E27FC236}">
                <a16:creationId xmlns:a16="http://schemas.microsoft.com/office/drawing/2014/main" id="{95C1808C-DD47-5FA3-E26B-78095C14F4A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31225" y="32987872"/>
            <a:ext cx="10193575" cy="1961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74;p14">
            <a:extLst>
              <a:ext uri="{FF2B5EF4-FFF2-40B4-BE49-F238E27FC236}">
                <a16:creationId xmlns:a16="http://schemas.microsoft.com/office/drawing/2014/main" id="{1C8B34C0-1693-ECB2-BFC9-0D9BE782B75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83625" y="33140272"/>
            <a:ext cx="10193575" cy="1961713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63;p14">
            <a:extLst>
              <a:ext uri="{FF2B5EF4-FFF2-40B4-BE49-F238E27FC236}">
                <a16:creationId xmlns:a16="http://schemas.microsoft.com/office/drawing/2014/main" id="{B3B9E4DD-11FD-F17D-BFAE-42D0F2BD0504}"/>
              </a:ext>
            </a:extLst>
          </p:cNvPr>
          <p:cNvSpPr/>
          <p:nvPr/>
        </p:nvSpPr>
        <p:spPr>
          <a:xfrm>
            <a:off x="-30837" y="-93172"/>
            <a:ext cx="10799763" cy="10986106"/>
          </a:xfrm>
          <a:prstGeom prst="rect">
            <a:avLst/>
          </a:prstGeom>
          <a:solidFill>
            <a:srgbClr val="0A939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Ｚ</a:t>
            </a:r>
            <a:endParaRPr dirty="0"/>
          </a:p>
        </p:txBody>
      </p:sp>
      <p:sp>
        <p:nvSpPr>
          <p:cNvPr id="12" name="Google Shape;69;p14">
            <a:extLst>
              <a:ext uri="{FF2B5EF4-FFF2-40B4-BE49-F238E27FC236}">
                <a16:creationId xmlns:a16="http://schemas.microsoft.com/office/drawing/2014/main" id="{D4B6593D-3B53-677F-2B05-4CEAFB9671FF}"/>
              </a:ext>
            </a:extLst>
          </p:cNvPr>
          <p:cNvSpPr txBox="1"/>
          <p:nvPr/>
        </p:nvSpPr>
        <p:spPr>
          <a:xfrm>
            <a:off x="368960" y="570609"/>
            <a:ext cx="30792900" cy="9510265"/>
          </a:xfrm>
          <a:prstGeom prst="rect">
            <a:avLst/>
          </a:prstGeom>
          <a:noFill/>
          <a:ln w="152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54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  <a:t>詳解：</a:t>
            </a:r>
            <a:br>
              <a:rPr lang="en-US" altLang="zh-TW" sz="54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</a:br>
            <a:br>
              <a:rPr lang="en-US" altLang="zh-TW" sz="24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</a:br>
            <a:r>
              <a:rPr lang="en-US" altLang="zh-TW" sz="24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  <a:t>- TYPE 1</a:t>
            </a:r>
            <a:r>
              <a:rPr lang="zh-TW" altLang="en-US" sz="24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  <a:t>：</a:t>
            </a:r>
            <a:br>
              <a:rPr lang="en-US" altLang="zh-TW" sz="24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</a:br>
            <a:r>
              <a:rPr lang="en-US" altLang="zh-TW" sz="24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  <a:t>	</a:t>
            </a:r>
            <a:r>
              <a:rPr lang="zh-TW" altLang="en-US" sz="24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  <a:t>自發性心肌梗塞</a:t>
            </a:r>
            <a:br>
              <a:rPr lang="en-US" altLang="zh-TW" sz="24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</a:br>
            <a:r>
              <a:rPr lang="zh-TW" altLang="en-US" sz="24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  <a:t>　　</a:t>
            </a:r>
            <a:r>
              <a:rPr lang="en-US" altLang="zh-TW" sz="24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  <a:t>(Spontaneous MI)  </a:t>
            </a:r>
            <a:br>
              <a:rPr lang="en-US" altLang="zh-TW" sz="24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</a:br>
            <a:endParaRPr lang="en-US" altLang="zh-TW" sz="2400" dirty="0">
              <a:solidFill>
                <a:schemeClr val="bg1"/>
              </a:solidFill>
              <a:latin typeface="CSong3HK-Medium" panose="00000600000000000000" pitchFamily="50" charset="-120"/>
              <a:ea typeface="CSong3HK-Medium" panose="00000600000000000000" pitchFamily="50" charset="-120"/>
              <a:cs typeface="ZCOOL XiaoWei"/>
              <a:sym typeface="ZCOOL XiaoWei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4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  <a:t>- TYPE 2</a:t>
            </a:r>
            <a:br>
              <a:rPr lang="en-US" altLang="zh-TW" sz="24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</a:br>
            <a:r>
              <a:rPr lang="en-US" altLang="zh-TW" sz="24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  <a:t>	</a:t>
            </a:r>
            <a:r>
              <a:rPr lang="zh-TW" altLang="en-US" sz="24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  <a:t>血流供需失衡的缺氧引起之心肌梗塞</a:t>
            </a:r>
            <a:br>
              <a:rPr lang="en-US" altLang="zh-TW" sz="24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</a:br>
            <a:r>
              <a:rPr lang="zh-TW" altLang="en-US" sz="24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  <a:t>　　</a:t>
            </a:r>
            <a:r>
              <a:rPr lang="en-US" altLang="zh-TW" sz="24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  <a:t>(MI secondary to an ischemic imbalance)  </a:t>
            </a:r>
            <a:br>
              <a:rPr lang="en-US" altLang="zh-TW" sz="24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</a:br>
            <a:endParaRPr lang="en-US" altLang="zh-TW" sz="2400" dirty="0">
              <a:solidFill>
                <a:schemeClr val="bg1"/>
              </a:solidFill>
              <a:latin typeface="CSong3HK-Medium" panose="00000600000000000000" pitchFamily="50" charset="-120"/>
              <a:ea typeface="CSong3HK-Medium" panose="00000600000000000000" pitchFamily="50" charset="-120"/>
              <a:cs typeface="ZCOOL XiaoWei"/>
              <a:sym typeface="ZCOOL XiaoWei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4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  <a:t>- Type 3</a:t>
            </a:r>
            <a:r>
              <a:rPr lang="zh-TW" altLang="en-US" sz="24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  <a:t>：</a:t>
            </a:r>
            <a:br>
              <a:rPr lang="en-US" altLang="zh-TW" sz="24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</a:br>
            <a:r>
              <a:rPr lang="en-US" altLang="zh-TW" sz="24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  <a:t>	</a:t>
            </a:r>
            <a:r>
              <a:rPr lang="zh-TW" altLang="en-US" sz="24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  <a:t>導致死亡之心肌梗塞，但缺乏心肌生化標記之檢驗數據</a:t>
            </a:r>
            <a:br>
              <a:rPr lang="en-US" altLang="zh-TW" sz="24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</a:br>
            <a:r>
              <a:rPr lang="zh-TW" altLang="en-US" sz="24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  <a:t>　　</a:t>
            </a:r>
            <a:r>
              <a:rPr lang="en-US" altLang="zh-TW" sz="24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  <a:t>(MI resulting in death when biomarker values are unavailable)</a:t>
            </a:r>
            <a:br>
              <a:rPr lang="en-US" altLang="zh-TW" sz="24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</a:br>
            <a:r>
              <a:rPr lang="en-US" altLang="zh-TW" sz="24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  <a:t>  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4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  <a:t>- Type 4a</a:t>
            </a:r>
            <a:r>
              <a:rPr lang="zh-TW" altLang="en-US" sz="24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  <a:t>：</a:t>
            </a:r>
            <a:br>
              <a:rPr lang="en-US" altLang="zh-TW" sz="24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</a:br>
            <a:r>
              <a:rPr lang="en-US" altLang="zh-TW" sz="24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  <a:t>	</a:t>
            </a:r>
            <a:r>
              <a:rPr lang="zh-TW" altLang="en-US" sz="24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  <a:t>與</a:t>
            </a:r>
            <a:r>
              <a:rPr lang="en-US" altLang="zh-TW" sz="24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  <a:t>PCI</a:t>
            </a:r>
            <a:r>
              <a:rPr lang="zh-TW" altLang="en-US" sz="24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  <a:t>有關的心肌梗塞</a:t>
            </a:r>
            <a:br>
              <a:rPr lang="en-US" altLang="zh-TW" sz="24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</a:br>
            <a:r>
              <a:rPr lang="zh-TW" altLang="en-US" sz="24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  <a:t>　　</a:t>
            </a:r>
            <a:r>
              <a:rPr lang="en-US" altLang="zh-TW" sz="24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  <a:t>(MI related to PCI)  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4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  <a:t>- Type 4b</a:t>
            </a:r>
            <a:r>
              <a:rPr lang="zh-TW" altLang="en-US" sz="24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  <a:t>：</a:t>
            </a:r>
            <a:br>
              <a:rPr lang="en-US" altLang="zh-TW" sz="24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</a:br>
            <a:r>
              <a:rPr lang="en-US" altLang="zh-TW" sz="24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  <a:t>	</a:t>
            </a:r>
            <a:r>
              <a:rPr lang="zh-TW" altLang="en-US" sz="24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  <a:t>與支架血栓有關的心肌梗塞</a:t>
            </a:r>
            <a:br>
              <a:rPr lang="en-US" altLang="zh-TW" sz="24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</a:br>
            <a:r>
              <a:rPr lang="en-US" altLang="zh-TW" sz="24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  <a:t>	(MI related stent thrombosis)  </a:t>
            </a:r>
            <a:br>
              <a:rPr lang="en-US" altLang="zh-TW" sz="24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</a:br>
            <a:endParaRPr lang="en-US" altLang="zh-TW" sz="2400" dirty="0">
              <a:solidFill>
                <a:schemeClr val="bg1"/>
              </a:solidFill>
              <a:latin typeface="CSong3HK-Medium" panose="00000600000000000000" pitchFamily="50" charset="-120"/>
              <a:ea typeface="CSong3HK-Medium" panose="00000600000000000000" pitchFamily="50" charset="-120"/>
              <a:cs typeface="ZCOOL XiaoWei"/>
              <a:sym typeface="ZCOOL XiaoWei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altLang="zh-TW" sz="24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  <a:t>Type 5</a:t>
            </a:r>
            <a:r>
              <a:rPr lang="zh-TW" altLang="en-US" sz="24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  <a:t>：</a:t>
            </a:r>
            <a:endParaRPr lang="en-US" altLang="zh-TW" sz="2400" dirty="0">
              <a:solidFill>
                <a:schemeClr val="bg1"/>
              </a:solidFill>
              <a:latin typeface="CSong3HK-Medium" panose="00000600000000000000" pitchFamily="50" charset="-120"/>
              <a:ea typeface="CSong3HK-Medium" panose="00000600000000000000" pitchFamily="50" charset="-120"/>
              <a:cs typeface="ZCOOL XiaoWei"/>
              <a:sym typeface="ZCOOL XiaoWei"/>
            </a:endParaRPr>
          </a:p>
          <a:p>
            <a:pPr lvl="1"/>
            <a:r>
              <a:rPr lang="zh-TW" altLang="en-US" sz="24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  <a:t>與</a:t>
            </a:r>
            <a:r>
              <a:rPr lang="en-US" altLang="zh-TW" sz="24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  <a:t>CABG</a:t>
            </a:r>
            <a:r>
              <a:rPr lang="zh-TW" altLang="en-US" sz="24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  <a:t>有關的心肌梗塞</a:t>
            </a:r>
            <a:br>
              <a:rPr lang="en-US" altLang="zh-TW" sz="24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</a:br>
            <a:r>
              <a:rPr lang="en-US" altLang="zh-TW" sz="24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  <a:t>(MI related with CABG) </a:t>
            </a:r>
            <a:endParaRPr lang="en-US" altLang="zh-TW" sz="1600" dirty="0">
              <a:solidFill>
                <a:schemeClr val="bg1"/>
              </a:solidFill>
              <a:latin typeface="CSong3HK-Medium" panose="00000600000000000000" pitchFamily="50" charset="-120"/>
              <a:ea typeface="CSong3HK-Medium" panose="00000600000000000000" pitchFamily="50" charset="-120"/>
              <a:cs typeface="ZCOOL XiaoWei"/>
              <a:sym typeface="ZCOOL XiaoWe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9956C5EA-D5F0-D8E4-D5CC-50D6E2DE555C}"/>
              </a:ext>
            </a:extLst>
          </p:cNvPr>
          <p:cNvSpPr txBox="1"/>
          <p:nvPr/>
        </p:nvSpPr>
        <p:spPr>
          <a:xfrm>
            <a:off x="7360741" y="10080874"/>
            <a:ext cx="3408185" cy="707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4000" dirty="0"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  <a:t>IG:</a:t>
            </a:r>
            <a:r>
              <a:rPr lang="zh-TW" altLang="en-US" sz="4000" dirty="0"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  <a:t> 某某醫師</a:t>
            </a:r>
          </a:p>
        </p:txBody>
      </p:sp>
    </p:spTree>
    <p:extLst>
      <p:ext uri="{BB962C8B-B14F-4D97-AF65-F5344CB8AC3E}">
        <p14:creationId xmlns:p14="http://schemas.microsoft.com/office/powerpoint/2010/main" val="4137257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63;p14">
            <a:extLst>
              <a:ext uri="{FF2B5EF4-FFF2-40B4-BE49-F238E27FC236}">
                <a16:creationId xmlns:a16="http://schemas.microsoft.com/office/drawing/2014/main" id="{B3B9E4DD-11FD-F17D-BFAE-42D0F2BD0504}"/>
              </a:ext>
            </a:extLst>
          </p:cNvPr>
          <p:cNvSpPr/>
          <p:nvPr/>
        </p:nvSpPr>
        <p:spPr>
          <a:xfrm>
            <a:off x="-9717" y="-103116"/>
            <a:ext cx="10799763" cy="10986106"/>
          </a:xfrm>
          <a:prstGeom prst="rect">
            <a:avLst/>
          </a:prstGeom>
          <a:solidFill>
            <a:srgbClr val="0A939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65;p14">
            <a:extLst>
              <a:ext uri="{FF2B5EF4-FFF2-40B4-BE49-F238E27FC236}">
                <a16:creationId xmlns:a16="http://schemas.microsoft.com/office/drawing/2014/main" id="{ADA50B88-999F-A81F-7A40-E3B670593DCA}"/>
              </a:ext>
            </a:extLst>
          </p:cNvPr>
          <p:cNvSpPr/>
          <p:nvPr/>
        </p:nvSpPr>
        <p:spPr>
          <a:xfrm>
            <a:off x="269643" y="97492"/>
            <a:ext cx="10100042" cy="10486202"/>
          </a:xfrm>
          <a:prstGeom prst="rect">
            <a:avLst/>
          </a:prstGeom>
          <a:solidFill>
            <a:srgbClr val="005F7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" name="Google Shape;69;p14">
            <a:extLst>
              <a:ext uri="{FF2B5EF4-FFF2-40B4-BE49-F238E27FC236}">
                <a16:creationId xmlns:a16="http://schemas.microsoft.com/office/drawing/2014/main" id="{D4B6593D-3B53-677F-2B05-4CEAFB9671FF}"/>
              </a:ext>
            </a:extLst>
          </p:cNvPr>
          <p:cNvSpPr txBox="1"/>
          <p:nvPr/>
        </p:nvSpPr>
        <p:spPr>
          <a:xfrm>
            <a:off x="2094142" y="2968461"/>
            <a:ext cx="30792900" cy="5447615"/>
          </a:xfrm>
          <a:prstGeom prst="rect">
            <a:avLst/>
          </a:prstGeom>
          <a:noFill/>
          <a:ln w="152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8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  <a:t>喜歡我的內容</a:t>
            </a:r>
            <a:br>
              <a:rPr lang="en-US" altLang="zh-TW" sz="38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</a:br>
            <a:r>
              <a:rPr lang="zh-TW" altLang="en-US" sz="38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  <a:t>不一定需要按讚</a:t>
            </a:r>
            <a:br>
              <a:rPr lang="en-US" altLang="zh-TW" sz="38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</a:br>
            <a:r>
              <a:rPr lang="zh-TW" altLang="en-US" sz="38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  <a:t>也不一定需要分享</a:t>
            </a:r>
            <a:br>
              <a:rPr lang="en-US" altLang="zh-TW" sz="38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</a:br>
            <a:br>
              <a:rPr lang="en-US" altLang="zh-TW" sz="38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</a:br>
            <a:r>
              <a:rPr lang="zh-TW" altLang="en-US" sz="38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  <a:t>可以的話</a:t>
            </a:r>
            <a:br>
              <a:rPr lang="en-US" altLang="zh-TW" sz="38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</a:br>
            <a:r>
              <a:rPr lang="zh-TW" altLang="en-US" sz="38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  <a:t>留個言跟我說些什麼</a:t>
            </a:r>
            <a:br>
              <a:rPr lang="en-US" altLang="zh-TW" sz="38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</a:br>
            <a:br>
              <a:rPr lang="en-US" altLang="zh-TW" sz="38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</a:br>
            <a:r>
              <a:rPr lang="zh-TW" altLang="en-US" sz="38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  <a:t>如果能跟你交個朋友</a:t>
            </a:r>
            <a:endParaRPr lang="en-US" altLang="zh-TW" sz="3800" dirty="0">
              <a:solidFill>
                <a:schemeClr val="bg1"/>
              </a:solidFill>
              <a:latin typeface="CSong3HK-Medium" panose="00000600000000000000" pitchFamily="50" charset="-120"/>
              <a:ea typeface="CSong3HK-Medium" panose="00000600000000000000" pitchFamily="50" charset="-120"/>
              <a:cs typeface="ZCOOL XiaoWei"/>
              <a:sym typeface="ZCOOL XiaoWei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8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  <a:t>那就太好了</a:t>
            </a:r>
            <a:r>
              <a:rPr lang="zh-TW" altLang="en-US" sz="3800" dirty="0">
                <a:solidFill>
                  <a:schemeClr val="bg1"/>
                </a:solidFill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Wingdings" panose="05000000000000000000" pitchFamily="2" charset="2"/>
              </a:rPr>
              <a:t></a:t>
            </a:r>
            <a:endParaRPr lang="en-US" altLang="zh-TW" sz="3800" dirty="0">
              <a:solidFill>
                <a:schemeClr val="bg1"/>
              </a:solidFill>
              <a:latin typeface="CSong3HK-Medium" panose="00000600000000000000" pitchFamily="50" charset="-120"/>
              <a:ea typeface="CSong3HK-Medium" panose="00000600000000000000" pitchFamily="50" charset="-120"/>
              <a:cs typeface="ZCOOL XiaoWei"/>
              <a:sym typeface="ZCOOL XiaoWei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4EE062BC-185C-1D41-DAC3-076EFA11DF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531" y="1312210"/>
            <a:ext cx="1325832" cy="1325832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F1FCA78C-185B-F9DF-AD19-B391B04DCD7E}"/>
              </a:ext>
            </a:extLst>
          </p:cNvPr>
          <p:cNvSpPr txBox="1"/>
          <p:nvPr/>
        </p:nvSpPr>
        <p:spPr>
          <a:xfrm>
            <a:off x="7360741" y="10080874"/>
            <a:ext cx="3408185" cy="707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4000" dirty="0"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  <a:t>IG:</a:t>
            </a:r>
            <a:r>
              <a:rPr lang="zh-TW" altLang="en-US" sz="4000" dirty="0">
                <a:latin typeface="CSong3HK-Medium" panose="00000600000000000000" pitchFamily="50" charset="-120"/>
                <a:ea typeface="CSong3HK-Medium" panose="00000600000000000000" pitchFamily="50" charset="-120"/>
                <a:cs typeface="ZCOOL XiaoWei"/>
                <a:sym typeface="ZCOOL XiaoWei"/>
              </a:rPr>
              <a:t> 某某醫師</a:t>
            </a:r>
          </a:p>
        </p:txBody>
      </p:sp>
    </p:spTree>
    <p:extLst>
      <p:ext uri="{BB962C8B-B14F-4D97-AF65-F5344CB8AC3E}">
        <p14:creationId xmlns:p14="http://schemas.microsoft.com/office/powerpoint/2010/main" val="1711136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419</TotalTime>
  <Words>332</Words>
  <Application>Microsoft Office PowerPoint</Application>
  <PresentationFormat>自訂</PresentationFormat>
  <Paragraphs>21</Paragraphs>
  <Slides>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CSong3HK-Medium</vt:lpstr>
      <vt:lpstr>MSmart HK Bold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洪郁茹</dc:creator>
  <cp:lastModifiedBy>洪郁茹</cp:lastModifiedBy>
  <cp:revision>10</cp:revision>
  <dcterms:created xsi:type="dcterms:W3CDTF">2022-12-29T08:40:16Z</dcterms:created>
  <dcterms:modified xsi:type="dcterms:W3CDTF">2025-12-12T13:39:50Z</dcterms:modified>
</cp:coreProperties>
</file>