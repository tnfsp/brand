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1" r:id="rId2"/>
    <p:sldId id="273" r:id="rId6"/>
    <p:sldId id="274" r:id="rId5"/>
    <p:sldId id="275" r:id="rId4"/>
    <p:sldId id="276" r:id="rId3"/>
    <p:sldId id="277" r:id="rId13"/>
    <p:sldId id="278" r:id="rId14"/>
    <p:sldId id="272" r:id="rId7"/>
  </p:sldIdLst>
  <p:sldSz cx="107997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9B00"/>
    <a:srgbClr val="FFFFFF"/>
    <a:srgbClr val="E9D8A6"/>
    <a:srgbClr val="CA6702"/>
    <a:srgbClr val="0A9396"/>
    <a:srgbClr val="005F73"/>
    <a:srgbClr val="94D2BD"/>
    <a:srgbClr val="000000"/>
    <a:srgbClr val="AE20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43" d="100"/>
          <a:sy n="43" d="100"/>
        </p:scale>
        <p:origin x="10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16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1F9B8A-F4D5-423F-AE04-8E58BCB8524B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F3FD20-18E0-446F-9D85-F33036144D6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175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-</a:t>
            </a:r>
            <a:br>
              <a:rPr lang="en-US" altLang="zh-TW" dirty="0"/>
            </a:br>
            <a:r>
              <a:rPr lang="zh-TW" altLang="en-US" dirty="0"/>
              <a:t>大家好，我是某某醫師，本業是外科住院醫師，將於明年開始進行心臟外科的訓練，雖然刀房訓練充實，但是還是想多充實自己臨床知識！這個系列，會放上我一些整理過的醫學知識內容。</a:t>
            </a:r>
            <a:br>
              <a:rPr lang="en-US" altLang="zh-TW" dirty="0"/>
            </a:br>
            <a:br>
              <a:rPr lang="en-US" altLang="zh-TW" dirty="0"/>
            </a:br>
            <a:r>
              <a:rPr lang="zh-TW" altLang="en-US" dirty="0"/>
              <a:t>小時候，都曾幻想自己</a:t>
            </a:r>
            <a:r>
              <a:rPr lang="en-US" altLang="zh-TW" dirty="0"/>
              <a:t>TEAM</a:t>
            </a:r>
            <a:r>
              <a:rPr lang="zh-TW" altLang="en-US" dirty="0"/>
              <a:t>上的學長又踢 </a:t>
            </a:r>
            <a:r>
              <a:rPr lang="en-US" altLang="zh-TW" dirty="0"/>
              <a:t>(teaching)</a:t>
            </a:r>
            <a:r>
              <a:rPr lang="zh-TW" altLang="en-US" dirty="0"/>
              <a:t> 又帥，現在慢慢長大了，雖然不是很帥，但也希望能夠給現在正在訓練中的學弟妹一些幫忙。</a:t>
            </a:r>
            <a:br>
              <a:rPr lang="en-US" altLang="zh-TW" dirty="0"/>
            </a:br>
            <a:br>
              <a:rPr lang="en-US" altLang="zh-TW" dirty="0"/>
            </a:br>
            <a:r>
              <a:rPr lang="zh-TW" altLang="en-US" dirty="0"/>
              <a:t>當然，如果我的內容有誤，也請各位先進不吝更正，我們一起學習！</a:t>
            </a:r>
            <a:endParaRPr lang="en-US" altLang="zh-TW" dirty="0"/>
          </a:p>
          <a:p>
            <a:br>
              <a:rPr lang="en-US" altLang="zh-TW" dirty="0"/>
            </a:br>
            <a:r>
              <a:rPr lang="zh-TW" altLang="en-US" dirty="0"/>
              <a:t>某某醫師敬上 </a:t>
            </a:r>
            <a:r>
              <a:rPr lang="en-US" altLang="zh-TW" dirty="0"/>
              <a:t>2022.12.29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F3FD20-18E0-446F-9D85-F33036144D6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856975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1767462"/>
            <a:ext cx="9179799" cy="375991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5672376"/>
            <a:ext cx="8099822" cy="2607442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3964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1018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2692444"/>
            <a:ext cx="9314796" cy="4492401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7227345"/>
            <a:ext cx="9314796" cy="2362447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/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7853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2874937"/>
            <a:ext cx="4589899" cy="68523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2874937"/>
            <a:ext cx="4589899" cy="68523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24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574990"/>
            <a:ext cx="9314796" cy="208745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2647443"/>
            <a:ext cx="4568805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3944914"/>
            <a:ext cx="4568805" cy="58023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2647443"/>
            <a:ext cx="4591306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3944914"/>
            <a:ext cx="4591306" cy="58023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163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9797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7073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1554968"/>
            <a:ext cx="5467380" cy="7674832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2434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1554968"/>
            <a:ext cx="5467380" cy="7674832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7706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508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574987"/>
            <a:ext cx="2328699" cy="91523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574987"/>
            <a:ext cx="6851100" cy="91523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37219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574990"/>
            <a:ext cx="9314796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874937"/>
            <a:ext cx="9314796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66E12-3FEC-41E8-9ED9-ACA26449D574}" type="datetimeFigureOut">
              <a:rPr lang="zh-TW" altLang="en-US" smtClean="0"/>
              <a:t>2025/12/12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0009783"/>
            <a:ext cx="364492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D8421-3191-4B3C-B494-49371EC5D9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0766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52198DC2-4E74-7958-5DC3-21368FAB4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170"/>
            <a:ext cx="10768926" cy="1076892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D9280E6-86CE-EAE5-7588-5E450A6DF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E89E83-5BF3-047B-255F-6AFDF806C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Google Shape;64;p14">
            <a:extLst>
              <a:ext uri="{FF2B5EF4-FFF2-40B4-BE49-F238E27FC236}">
                <a16:creationId xmlns:a16="http://schemas.microsoft.com/office/drawing/2014/main" id="{253B9C28-1FDD-D559-887A-8D0A07EA7D1E}"/>
              </a:ext>
            </a:extLst>
          </p:cNvPr>
          <p:cNvSpPr/>
          <p:nvPr/>
        </p:nvSpPr>
        <p:spPr>
          <a:xfrm>
            <a:off x="-319595" y="-181542"/>
            <a:ext cx="11119358" cy="10918298"/>
          </a:xfrm>
          <a:prstGeom prst="rect">
            <a:avLst/>
          </a:prstGeom>
          <a:solidFill>
            <a:srgbClr val="EE9B00">
              <a:alpha val="6488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69;p14">
            <a:extLst>
              <a:ext uri="{FF2B5EF4-FFF2-40B4-BE49-F238E27FC236}">
                <a16:creationId xmlns:a16="http://schemas.microsoft.com/office/drawing/2014/main" id="{709A9977-413F-4426-1395-F5CEA54F258D}"/>
              </a:ext>
            </a:extLst>
          </p:cNvPr>
          <p:cNvSpPr txBox="1"/>
          <p:nvPr/>
        </p:nvSpPr>
        <p:spPr>
          <a:xfrm>
            <a:off x="1869534" y="4731999"/>
            <a:ext cx="8082539" cy="1200298"/>
          </a:xfrm>
          <a:prstGeom prst="rect">
            <a:avLst/>
          </a:prstGeom>
          <a:noFill/>
          <a:ln w="152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defRPr>
                <a:solidFill>
                  <a:srgbClr val="000000"/>
                </a:solidFill>
                <a:latin typeface="csong"/>
              </a:defRPr>
            </a:pPr>
            <a:r>
              <a:t>沒有姓名的值班機器</a:t>
            </a:r>
          </a:p>
        </p:txBody>
      </p:sp>
      <p:pic>
        <p:nvPicPr>
          <p:cNvPr id="9" name="Google Shape;74;p14">
            <a:extLst>
              <a:ext uri="{FF2B5EF4-FFF2-40B4-BE49-F238E27FC236}">
                <a16:creationId xmlns:a16="http://schemas.microsoft.com/office/drawing/2014/main" id="{24F4376F-F4F7-407C-09E9-89FBEB09F3F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423880" y="45276045"/>
            <a:ext cx="10193575" cy="196171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30EB9BE6-F90B-68D6-2882-C48BA18DD6B5}"/>
              </a:ext>
            </a:extLst>
          </p:cNvPr>
          <p:cNvSpPr txBox="1"/>
          <p:nvPr/>
        </p:nvSpPr>
        <p:spPr>
          <a:xfrm>
            <a:off x="7360741" y="10080874"/>
            <a:ext cx="3408185" cy="707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>
                <a:solidFill>
                  <a:srgbClr val="000000"/>
                </a:solidFill>
                <a:latin typeface="csong"/>
              </a:defRPr>
            </a:pPr>
            <a:r>
              <a:t>沒有姓名的值班機器</a:t>
            </a:r>
          </a:p>
        </p:txBody>
      </p:sp>
      <p:sp>
        <p:nvSpPr>
          <p:cNvPr id="12" name="Google Shape;69;p14">
            <a:extLst>
              <a:ext uri="{FF2B5EF4-FFF2-40B4-BE49-F238E27FC236}">
                <a16:creationId xmlns:a16="http://schemas.microsoft.com/office/drawing/2014/main" id="{CF1A1FFB-B6D7-77B4-80E0-D99CDA5F39C0}"/>
              </a:ext>
            </a:extLst>
          </p:cNvPr>
          <p:cNvSpPr txBox="1"/>
          <p:nvPr/>
        </p:nvSpPr>
        <p:spPr>
          <a:xfrm>
            <a:off x="5240084" y="5993853"/>
            <a:ext cx="8082539" cy="800189"/>
          </a:xfrm>
          <a:prstGeom prst="rect">
            <a:avLst/>
          </a:prstGeom>
          <a:noFill/>
          <a:ln w="152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defRPr>
                <a:solidFill>
                  <a:srgbClr val="000000"/>
                </a:solidFill>
                <a:latin typeface="csong"/>
              </a:defRPr>
            </a:pPr>
            <a:r>
              <a:t>PART 1</a:t>
            </a:r>
          </a:p>
        </p:txBody>
      </p:sp>
    </p:spTree>
    <p:extLst>
      <p:ext uri="{BB962C8B-B14F-4D97-AF65-F5344CB8AC3E}">
        <p14:creationId xmlns:p14="http://schemas.microsoft.com/office/powerpoint/2010/main" val="2352324077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799763" cy="10799763"/>
          </a:xfrm>
          <a:prstGeom prst="rect">
            <a:avLst/>
          </a:prstGeom>
          <a:solidFill>
            <a:srgbClr val="E9D8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500">
                <a:solidFill>
                  <a:srgbClr val="000000"/>
                </a:solidFill>
                <a:latin typeface="csong"/>
              </a:defRPr>
            </a:pPr>
            <a:r>
              <a:t>「喂，我是某某樓層的值班醫師...」</a:t>
            </a:r>
          </a:p>
        </p:txBody>
      </p:sp>
      <p:pic>
        <p:nvPicPr>
          <p:cNvPr id="4" name="Picture 3" descr="IG某某醫師浮水印(放在右下角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8046000"/>
            <a:ext cx="2336400" cy="7307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799763" cy="10799763"/>
          </a:xfrm>
          <a:prstGeom prst="rect">
            <a:avLst/>
          </a:prstGeom>
          <a:solidFill>
            <a:srgbClr val="E9D8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640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000000"/>
                </a:solidFill>
                <a:latin typeface="csong"/>
              </a:defRPr>
            </a:pPr>
            <a:r>
              <a:t>不是張醫師</a:t>
            </a:r>
          </a:p>
          <a:p>
            <a:pPr algn="ctr">
              <a:defRPr sz="4000">
                <a:solidFill>
                  <a:srgbClr val="000000"/>
                </a:solidFill>
                <a:latin typeface="csong"/>
              </a:defRPr>
            </a:pPr>
            <a:r>
              <a:t>不是李醫師</a:t>
            </a:r>
          </a:p>
          <a:p>
            <a:pPr algn="ctr">
              <a:defRPr sz="4000">
                <a:solidFill>
                  <a:srgbClr val="000000"/>
                </a:solidFill>
                <a:latin typeface="csong"/>
              </a:defRPr>
            </a:pPr>
            <a:r>
              <a:t>不是王醫師</a:t>
            </a:r>
          </a:p>
          <a:p>
            <a:pPr algn="ctr">
              <a:defRPr sz="4000">
                <a:solidFill>
                  <a:srgbClr val="000000"/>
                </a:solidFill>
                <a:latin typeface="csong"/>
              </a:defRPr>
            </a:pPr>
          </a:p>
          <a:p>
            <a:pPr algn="ctr">
              <a:defRPr sz="5000" b="1">
                <a:solidFill>
                  <a:srgbClr val="000000"/>
                </a:solidFill>
                <a:latin typeface="csong"/>
              </a:defRPr>
            </a:pPr>
            <a:r>
              <a:t>只是「值班醫師」</a:t>
            </a:r>
          </a:p>
        </p:txBody>
      </p:sp>
      <p:pic>
        <p:nvPicPr>
          <p:cNvPr id="4" name="Picture 3" descr="IG某某醫師浮水印(放在右下角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8046000"/>
            <a:ext cx="2336400" cy="7307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799763" cy="10799763"/>
          </a:xfrm>
          <a:prstGeom prst="rect">
            <a:avLst/>
          </a:prstGeom>
          <a:solidFill>
            <a:srgbClr val="E9D8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640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500" b="1">
                <a:solidFill>
                  <a:srgbClr val="000000"/>
                </a:solidFill>
                <a:latin typeface="csong"/>
              </a:defRPr>
            </a:pPr>
            <a:r>
              <a:t>什麼時候開始</a:t>
            </a:r>
          </a:p>
          <a:p>
            <a:pPr algn="l">
              <a:defRPr sz="4500" b="1">
                <a:solidFill>
                  <a:srgbClr val="000000"/>
                </a:solidFill>
                <a:latin typeface="csong"/>
              </a:defRPr>
            </a:pPr>
            <a:r>
              <a:t>我們連名字都不說了？</a:t>
            </a: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  <a:r>
              <a:t>接到學弟妹的會診電話</a:t>
            </a: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  <a:r>
              <a:t>越來越常聽到這樣的開場</a:t>
            </a: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  <a:r>
              <a:t>職位代替了姓名</a:t>
            </a: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  <a:r>
              <a:t>功能取代了身份</a:t>
            </a:r>
          </a:p>
        </p:txBody>
      </p:sp>
      <p:pic>
        <p:nvPicPr>
          <p:cNvPr id="4" name="Picture 3" descr="IG某某醫師浮水印(放在右下角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8046000"/>
            <a:ext cx="2336400" cy="7307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799763" cy="10799763"/>
          </a:xfrm>
          <a:prstGeom prst="rect">
            <a:avLst/>
          </a:prstGeom>
          <a:solidFill>
            <a:srgbClr val="E9D8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640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500" b="1">
                <a:solidFill>
                  <a:srgbClr val="000000"/>
                </a:solidFill>
                <a:latin typeface="csong"/>
              </a:defRPr>
            </a:pPr>
            <a:r>
              <a:t>為什麼會這樣？</a:t>
            </a: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  <a:r>
              <a:t>也許是...</a:t>
            </a: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  <a:r>
              <a:t>工作壓力太大</a:t>
            </a: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  <a:r>
              <a:t>慢慢麻木了</a:t>
            </a: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  <a:r>
              <a:t>害怕被記住</a:t>
            </a: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  <a:r>
              <a:t>避免被針對</a:t>
            </a: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  <a:r>
              <a:t>或是醫療文化告訴我們</a:t>
            </a: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  <a:r>
              <a:t>職位比人更重要</a:t>
            </a:r>
          </a:p>
        </p:txBody>
      </p:sp>
      <p:pic>
        <p:nvPicPr>
          <p:cNvPr id="4" name="Picture 3" descr="IG某某醫師浮水印(放在右下角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8046000"/>
            <a:ext cx="2336400" cy="7307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799763" cy="10799763"/>
          </a:xfrm>
          <a:prstGeom prst="rect">
            <a:avLst/>
          </a:prstGeom>
          <a:solidFill>
            <a:srgbClr val="E9D8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640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500" b="1">
                <a:solidFill>
                  <a:srgbClr val="000000"/>
                </a:solidFill>
                <a:latin typeface="csong"/>
              </a:defRPr>
            </a:pPr>
            <a:r>
              <a:t>為什麼會這樣？</a:t>
            </a: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  <a:r>
              <a:t>也許是...</a:t>
            </a: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  <a:r>
              <a:t>工作壓力太大</a:t>
            </a: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  <a:r>
              <a:t>慢慢麻木了</a:t>
            </a: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  <a:r>
              <a:t>害怕被記住</a:t>
            </a: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  <a:r>
              <a:t>避免被針對</a:t>
            </a: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  <a:r>
              <a:t>或是醫療文化告訴我們</a:t>
            </a:r>
          </a:p>
          <a:p>
            <a:pPr algn="l">
              <a:defRPr sz="3200">
                <a:solidFill>
                  <a:srgbClr val="000000"/>
                </a:solidFill>
                <a:latin typeface="csong"/>
              </a:defRPr>
            </a:pPr>
            <a:r>
              <a:t>職位比人更重要</a:t>
            </a:r>
          </a:p>
        </p:txBody>
      </p:sp>
      <p:pic>
        <p:nvPicPr>
          <p:cNvPr id="4" name="Picture 3" descr="IG某某醫師浮水印(放在右下角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8046000"/>
            <a:ext cx="2336400" cy="7307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799763" cy="10799763"/>
          </a:xfrm>
          <a:prstGeom prst="rect">
            <a:avLst/>
          </a:prstGeom>
          <a:solidFill>
            <a:srgbClr val="E9D8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640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500" b="1">
                <a:solidFill>
                  <a:srgbClr val="000000"/>
                </a:solidFill>
                <a:latin typeface="csong"/>
              </a:defRPr>
            </a:pPr>
            <a:r>
              <a:t>當我們失去名字</a:t>
            </a:r>
          </a:p>
          <a:p>
            <a:pPr algn="ctr">
              <a:defRPr sz="4500" b="1">
                <a:solidFill>
                  <a:srgbClr val="000000"/>
                </a:solidFill>
                <a:latin typeface="csong"/>
              </a:defRPr>
            </a:pPr>
            <a:r>
              <a:t>我們失去了什麼？</a:t>
            </a:r>
          </a:p>
          <a:p>
            <a:pPr algn="ctr">
              <a:defRPr sz="3200">
                <a:solidFill>
                  <a:srgbClr val="000000"/>
                </a:solidFill>
                <a:latin typeface="csong"/>
              </a:defRPr>
            </a:pPr>
          </a:p>
          <a:p>
            <a:pPr algn="ctr">
              <a:defRPr sz="3200">
                <a:solidFill>
                  <a:srgbClr val="000000"/>
                </a:solidFill>
                <a:latin typeface="csong"/>
              </a:defRPr>
            </a:pPr>
            <a:r>
              <a:t>從「人」變成「功能」</a:t>
            </a:r>
          </a:p>
          <a:p>
            <a:pPr algn="ctr">
              <a:defRPr sz="3200">
                <a:solidFill>
                  <a:srgbClr val="000000"/>
                </a:solidFill>
                <a:latin typeface="csong"/>
              </a:defRPr>
            </a:pPr>
            <a:r>
              <a:t>從「張醫師」變成「值班機器」</a:t>
            </a:r>
          </a:p>
          <a:p>
            <a:pPr algn="ctr">
              <a:defRPr sz="3200">
                <a:solidFill>
                  <a:srgbClr val="000000"/>
                </a:solidFill>
                <a:latin typeface="csong"/>
              </a:defRPr>
            </a:pPr>
          </a:p>
          <a:p>
            <a:pPr algn="ctr">
              <a:defRPr sz="3200">
                <a:solidFill>
                  <a:srgbClr val="000000"/>
                </a:solidFill>
                <a:latin typeface="csong"/>
              </a:defRPr>
            </a:pPr>
            <a:r>
              <a:t>這是保護機制</a:t>
            </a:r>
          </a:p>
          <a:p>
            <a:pPr algn="ctr">
              <a:defRPr sz="3200">
                <a:solidFill>
                  <a:srgbClr val="000000"/>
                </a:solidFill>
                <a:latin typeface="csong"/>
              </a:defRPr>
            </a:pPr>
            <a:r>
              <a:t>還是我們付出的代價？</a:t>
            </a:r>
          </a:p>
        </p:txBody>
      </p:sp>
      <p:pic>
        <p:nvPicPr>
          <p:cNvPr id="4" name="Picture 3" descr="IG某某醫師浮水印(放在右下角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8046000"/>
            <a:ext cx="2336400" cy="7307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799763" cy="10799763"/>
          </a:xfrm>
          <a:prstGeom prst="rect">
            <a:avLst/>
          </a:prstGeom>
          <a:solidFill>
            <a:srgbClr val="E9D8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640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0" b="1">
                <a:solidFill>
                  <a:srgbClr val="000000"/>
                </a:solidFill>
                <a:latin typeface="csong"/>
              </a:defRPr>
            </a:pPr>
            <a:r>
              <a:t>你不只是一台值班機器</a:t>
            </a:r>
          </a:p>
          <a:p>
            <a:pPr algn="ctr">
              <a:defRPr sz="3800">
                <a:solidFill>
                  <a:srgbClr val="000000"/>
                </a:solidFill>
                <a:latin typeface="csong"/>
              </a:defRPr>
            </a:pPr>
          </a:p>
          <a:p>
            <a:pPr algn="ctr">
              <a:defRPr sz="3800" b="1">
                <a:solidFill>
                  <a:srgbClr val="000000"/>
                </a:solidFill>
                <a:latin typeface="csong"/>
              </a:defRPr>
            </a:pPr>
            <a:r>
              <a:t>記得說出你的名字</a:t>
            </a:r>
          </a:p>
          <a:p>
            <a:pPr algn="ctr">
              <a:defRPr sz="3000">
                <a:solidFill>
                  <a:srgbClr val="000000"/>
                </a:solidFill>
                <a:latin typeface="csong"/>
              </a:defRPr>
            </a:pPr>
          </a:p>
          <a:p>
            <a:pPr algn="ctr">
              <a:defRPr sz="3000">
                <a:solidFill>
                  <a:srgbClr val="000000"/>
                </a:solidFill>
                <a:latin typeface="csong"/>
              </a:defRPr>
            </a:pPr>
            <a:r>
              <a:t>下次打電話時</a:t>
            </a:r>
          </a:p>
          <a:p>
            <a:pPr algn="ctr">
              <a:defRPr sz="3000">
                <a:solidFill>
                  <a:srgbClr val="000000"/>
                </a:solidFill>
                <a:latin typeface="csong"/>
              </a:defRPr>
            </a:pPr>
            <a:r>
              <a:t>介紹你自己</a:t>
            </a:r>
          </a:p>
          <a:p>
            <a:pPr algn="ctr">
              <a:defRPr sz="3000">
                <a:solidFill>
                  <a:srgbClr val="000000"/>
                </a:solidFill>
                <a:latin typeface="csong"/>
              </a:defRPr>
            </a:pPr>
          </a:p>
          <a:p>
            <a:pPr algn="ctr">
              <a:defRPr sz="3000">
                <a:solidFill>
                  <a:srgbClr val="000000"/>
                </a:solidFill>
                <a:latin typeface="csong"/>
              </a:defRPr>
            </a:pPr>
            <a:r>
              <a:t>在體制中</a:t>
            </a:r>
          </a:p>
          <a:p>
            <a:pPr algn="ctr">
              <a:defRPr sz="3000">
                <a:solidFill>
                  <a:srgbClr val="000000"/>
                </a:solidFill>
                <a:latin typeface="csong"/>
              </a:defRPr>
            </a:pPr>
            <a:r>
              <a:t>不失去自己</a:t>
            </a:r>
          </a:p>
        </p:txBody>
      </p:sp>
      <p:pic>
        <p:nvPicPr>
          <p:cNvPr id="4" name="Picture 3" descr="IG某某醫師浮水印(放在右下角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8046000"/>
            <a:ext cx="2336400" cy="7307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418</TotalTime>
  <Words>806</Words>
  <Application>Microsoft Office PowerPoint</Application>
  <PresentationFormat>自訂</PresentationFormat>
  <Paragraphs>39</Paragraphs>
  <Slides>6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CSong3HK-Medium</vt:lpstr>
      <vt:lpstr>HeiT</vt:lpstr>
      <vt:lpstr>Arial</vt:lpstr>
      <vt:lpstr>Calibri</vt:lpstr>
      <vt:lpstr>Calibri Light</vt:lpstr>
      <vt:lpstr>Office 佈景主題</vt:lpstr>
      <vt:lpstr>PowerPoint 簡報</vt:lpstr>
      <vt:lpstr>」</vt:lpstr>
      <vt:lpstr>」</vt:lpstr>
      <vt:lpstr>」</vt:lpstr>
      <vt:lpstr>」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洪郁茹</dc:creator>
  <cp:lastModifiedBy>洪郁茹</cp:lastModifiedBy>
  <cp:revision>10</cp:revision>
  <dcterms:created xsi:type="dcterms:W3CDTF">2022-12-29T08:40:16Z</dcterms:created>
  <dcterms:modified xsi:type="dcterms:W3CDTF">2025-12-12T13:41:57Z</dcterms:modified>
</cp:coreProperties>
</file>